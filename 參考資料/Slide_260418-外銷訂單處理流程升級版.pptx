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900000" cy="6876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900000" cy="6876000"/>
          </a:xfrm>
          <a:prstGeom prst="rect">
            <a:avLst/>
          </a:prstGeom>
          <a:solidFill>
            <a:srgbClr val="085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63120"/>
            <a:ext cx="9900000" cy="2612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988080"/>
            <a:ext cx="9900000" cy="216000"/>
          </a:xfrm>
          <a:prstGeom prst="rect">
            <a:avLst/>
          </a:prstGeom>
          <a:solidFill>
            <a:srgbClr val="C8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0000" y="792000"/>
            <a:ext cx="8820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微軟正黑體"/>
              </a:rPr>
              <a:t>外銷訂單處理流程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2268000"/>
            <a:ext cx="88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8D8FF"/>
                </a:solidFill>
                <a:latin typeface="微軟正黑體"/>
              </a:rPr>
              <a:t>升級版　｜　整合數位小工具・效率再提升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8000" y="4606920"/>
            <a:ext cx="50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850D0"/>
                </a:solidFill>
                <a:latin typeface="微軟正黑體"/>
              </a:rPr>
              <a:t>業務部　JANJAN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60000" y="4606920"/>
            <a:ext cx="1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0850D0"/>
                </a:solidFill>
                <a:latin typeface="微軟正黑體"/>
              </a:rPr>
              <a:t>2026.04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900000" cy="864000"/>
          </a:xfrm>
          <a:prstGeom prst="rect">
            <a:avLst/>
          </a:prstGeom>
          <a:solidFill>
            <a:srgbClr val="085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4000"/>
            <a:ext cx="9900000" cy="6012000"/>
          </a:xfrm>
          <a:prstGeom prst="rect">
            <a:avLst/>
          </a:prstGeom>
          <a:solidFill>
            <a:srgbClr val="F5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88000" y="162000"/>
            <a:ext cx="81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微軟正黑體"/>
              </a:rPr>
              <a:t>外銷訂單處理流程　·　五步驟總覽</a:t>
            </a:r>
          </a:p>
        </p:txBody>
      </p:sp>
      <p:sp>
        <p:nvSpPr>
          <p:cNvPr id="5" name="Rectangle 4"/>
          <p:cNvSpPr/>
          <p:nvPr/>
        </p:nvSpPr>
        <p:spPr>
          <a:xfrm>
            <a:off x="431999" y="1080000"/>
            <a:ext cx="1692000" cy="2880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1999" y="1188000"/>
            <a:ext cx="1692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微軟正黑體"/>
              </a:rPr>
              <a:t>① 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1999" y="2015999"/>
            <a:ext cx="1692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微軟正黑體"/>
              </a:rPr>
              <a:t>配抄計算
重量／件數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24000" y="2232000"/>
            <a:ext cx="1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8899"/>
                </a:solidFill>
                <a:latin typeface="微軟正黑體"/>
              </a:rPr>
              <a:t>▶</a:t>
            </a:r>
          </a:p>
        </p:txBody>
      </p:sp>
      <p:sp>
        <p:nvSpPr>
          <p:cNvPr id="9" name="Rectangle 8"/>
          <p:cNvSpPr/>
          <p:nvPr/>
        </p:nvSpPr>
        <p:spPr>
          <a:xfrm>
            <a:off x="2268000" y="1080000"/>
            <a:ext cx="1692000" cy="2880000"/>
          </a:xfrm>
          <a:prstGeom prst="rect">
            <a:avLst/>
          </a:prstGeom>
          <a:solidFill>
            <a:srgbClr val="085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68000" y="1188000"/>
            <a:ext cx="1692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微軟正黑體"/>
              </a:rPr>
              <a:t>② KEY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68000" y="2015999"/>
            <a:ext cx="1692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微軟正黑體"/>
              </a:rPr>
              <a:t>入訂單系統
裝櫃模擬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60000" y="2232000"/>
            <a:ext cx="1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8899"/>
                </a:solidFill>
                <a:latin typeface="微軟正黑體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04000" y="1080000"/>
            <a:ext cx="1692000" cy="2880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04000" y="1188000"/>
            <a:ext cx="1692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微軟正黑體"/>
              </a:rPr>
              <a:t>③ 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04000" y="2015999"/>
            <a:ext cx="1692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微軟正黑體"/>
              </a:rPr>
              <a:t>訂物料
物料排程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96000" y="2232000"/>
            <a:ext cx="1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8899"/>
                </a:solidFill>
                <a:latin typeface="微軟正黑體"/>
              </a:rPr>
              <a:t>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0000" y="1080000"/>
            <a:ext cx="1692000" cy="2880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0000" y="1188000"/>
            <a:ext cx="1692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微軟正黑體"/>
              </a:rPr>
              <a:t>④ 寫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0000" y="2015999"/>
            <a:ext cx="1692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微軟正黑體"/>
              </a:rPr>
              <a:t>嘜頭產生
生管本填寫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32000" y="2232000"/>
            <a:ext cx="1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8899"/>
                </a:solidFill>
                <a:latin typeface="微軟正黑體"/>
              </a:rPr>
              <a:t>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6000" y="1080000"/>
            <a:ext cx="1692000" cy="28800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6000" y="1188000"/>
            <a:ext cx="1692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微軟正黑體"/>
              </a:rPr>
              <a:t>⑤ 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6000" y="2015999"/>
            <a:ext cx="1692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微軟正黑體"/>
              </a:rPr>
              <a:t>出貨追蹤
客訴處理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0000" y="4248000"/>
            <a:ext cx="91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0850D0"/>
                </a:solidFill>
                <a:latin typeface="微軟正黑體"/>
              </a:rPr>
              <a:t>🔧  本版新增：各步驟配備專屬數位小工具，告別手算與人工查表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0000" y="4752000"/>
            <a:ext cx="91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8899"/>
                </a:solidFill>
                <a:latin typeface="微軟正黑體"/>
              </a:rPr>
              <a:t>工具總計：配抄工具 ×8　｜　訂單計算機 ×4　｜　模擬工具 ×2　｜　嘜頭產生器 ×1　｜　客訴機器人 ×1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900000" cy="864000"/>
          </a:xfrm>
          <a:prstGeom prst="rect">
            <a:avLst/>
          </a:prstGeom>
          <a:solidFill>
            <a:srgbClr val="085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4000"/>
            <a:ext cx="9900000" cy="6012000"/>
          </a:xfrm>
          <a:prstGeom prst="rect">
            <a:avLst/>
          </a:prstGeom>
          <a:solidFill>
            <a:srgbClr val="F5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88000" y="162000"/>
            <a:ext cx="81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微軟正黑體"/>
              </a:rPr>
              <a:t>① 算　·　配抄計算</a:t>
            </a:r>
          </a:p>
        </p:txBody>
      </p:sp>
      <p:sp>
        <p:nvSpPr>
          <p:cNvPr id="5" name="Rectangle 4"/>
          <p:cNvSpPr/>
          <p:nvPr/>
        </p:nvSpPr>
        <p:spPr>
          <a:xfrm>
            <a:off x="8460000" y="72000"/>
            <a:ext cx="1296000" cy="720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60000" y="72000"/>
            <a:ext cx="1296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微軟正黑體"/>
              </a:rPr>
              <a:t>① 算</a:t>
            </a:r>
          </a:p>
        </p:txBody>
      </p:sp>
      <p:sp>
        <p:nvSpPr>
          <p:cNvPr id="7" name="Rectangle 6"/>
          <p:cNvSpPr/>
          <p:nvPr/>
        </p:nvSpPr>
        <p:spPr>
          <a:xfrm>
            <a:off x="180000" y="972000"/>
            <a:ext cx="4248000" cy="579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8000" y="1080000"/>
            <a:ext cx="406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97316"/>
                </a:solidFill>
                <a:latin typeface="微軟正黑體"/>
              </a:rPr>
              <a:t>原本流程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00" y="1512000"/>
            <a:ext cx="4068000" cy="52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E2E"/>
                </a:solidFill>
                <a:latin typeface="微軟正黑體"/>
              </a:rPr>
              <a:t>● 確認束／板 或 捲筒長度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00" y="2070000"/>
            <a:ext cx="4068000" cy="52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E2E"/>
                </a:solidFill>
                <a:latin typeface="微軟正黑體"/>
              </a:rPr>
              <a:t>● 入系統計算單顆重量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00" y="2628000"/>
            <a:ext cx="4068000" cy="52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E2E"/>
                </a:solidFill>
                <a:latin typeface="微軟正黑體"/>
              </a:rPr>
              <a:t>● 看訂單噸數推算件數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00" y="3186000"/>
            <a:ext cx="4068000" cy="52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E2E"/>
                </a:solidFill>
                <a:latin typeface="微軟正黑體"/>
              </a:rPr>
              <a:t>● 件數 × 單顆重量 ＝ 重量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00" y="3744000"/>
            <a:ext cx="4068000" cy="52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E2E"/>
                </a:solidFill>
                <a:latin typeface="微軟正黑體"/>
              </a:rPr>
              <a:t>● 加總整張重量確認相符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00" y="4302000"/>
            <a:ext cx="4068000" cy="52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E2E"/>
                </a:solidFill>
                <a:latin typeface="微軟正黑體"/>
              </a:rPr>
              <a:t>● 分配好櫃次順序（方便拆櫃，特別重要）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00" y="4860000"/>
            <a:ext cx="4068000" cy="52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E2E"/>
                </a:solidFill>
                <a:latin typeface="微軟正黑體"/>
              </a:rPr>
              <a:t>● 寫起來，Keyin 時才看得懂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08000" y="1080000"/>
            <a:ext cx="52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97316"/>
                </a:solidFill>
                <a:latin typeface="微軟正黑體"/>
              </a:rPr>
              <a:t>🔧  新增小工具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08000" y="1565999"/>
            <a:ext cx="5220000" cy="122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08000" y="1565999"/>
            <a:ext cx="90000" cy="1224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2000" y="1638000"/>
            <a:ext cx="5004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97316"/>
                </a:solidFill>
                <a:latin typeface="微軟正黑體"/>
              </a:rPr>
              <a:t>PM1 配抄工具  ×4 單位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2000" y="1998000"/>
            <a:ext cx="5004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99"/>
                </a:solidFill>
                <a:latin typeface="微軟正黑體"/>
              </a:rPr>
              <a:t>MM ／ 公分 ／ 英吋 ／ 台尺
一號抄紙機專用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08000" y="2880000"/>
            <a:ext cx="5220000" cy="122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608000" y="2880000"/>
            <a:ext cx="90000" cy="1224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2000" y="2951999"/>
            <a:ext cx="5004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97316"/>
                </a:solidFill>
                <a:latin typeface="微軟正黑體"/>
              </a:rPr>
              <a:t>PM2 配抄工具  ×4 單位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2000" y="3311999"/>
            <a:ext cx="5004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99"/>
                </a:solidFill>
                <a:latin typeface="微軟正黑體"/>
              </a:rPr>
              <a:t>MM ／ 公分 ／ 英吋 ／ 台尺
二號抄紙機專用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08000" y="4194000"/>
            <a:ext cx="5220000" cy="122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608000" y="4194000"/>
            <a:ext cx="90000" cy="1224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52000" y="4266000"/>
            <a:ext cx="5004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97316"/>
                </a:solidFill>
                <a:latin typeface="微軟正黑體"/>
              </a:rPr>
              <a:t>訂單計算機 ×4 單位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2000" y="4626000"/>
            <a:ext cx="5004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99"/>
                </a:solidFill>
                <a:latin typeface="微軟正黑體"/>
              </a:rPr>
              <a:t>Paper Order Calculator
MM ／ 公分 ／ 英吋 ／ 台尺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08000" y="5508000"/>
            <a:ext cx="5220000" cy="122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608000" y="5508000"/>
            <a:ext cx="90000" cy="1224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52000" y="5580000"/>
            <a:ext cx="5004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97316"/>
                </a:solidFill>
                <a:latin typeface="微軟正黑體"/>
              </a:rPr>
              <a:t>平版束數查詢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52000" y="5940000"/>
            <a:ext cx="5004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99"/>
                </a:solidFill>
                <a:latin typeface="微軟正黑體"/>
              </a:rPr>
              <a:t>平版紙束數即時查詢，無需翻表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900000" cy="864000"/>
          </a:xfrm>
          <a:prstGeom prst="rect">
            <a:avLst/>
          </a:prstGeom>
          <a:solidFill>
            <a:srgbClr val="085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4000"/>
            <a:ext cx="9900000" cy="6012000"/>
          </a:xfrm>
          <a:prstGeom prst="rect">
            <a:avLst/>
          </a:prstGeom>
          <a:solidFill>
            <a:srgbClr val="F5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88000" y="162000"/>
            <a:ext cx="81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微軟正黑體"/>
              </a:rPr>
              <a:t>② KEY　·　入訂單系統</a:t>
            </a:r>
          </a:p>
        </p:txBody>
      </p:sp>
      <p:sp>
        <p:nvSpPr>
          <p:cNvPr id="5" name="Rectangle 4"/>
          <p:cNvSpPr/>
          <p:nvPr/>
        </p:nvSpPr>
        <p:spPr>
          <a:xfrm>
            <a:off x="8460000" y="72000"/>
            <a:ext cx="1296000" cy="720000"/>
          </a:xfrm>
          <a:prstGeom prst="rect">
            <a:avLst/>
          </a:prstGeom>
          <a:solidFill>
            <a:srgbClr val="085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60000" y="72000"/>
            <a:ext cx="1296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微軟正黑體"/>
              </a:rPr>
              <a:t>② KEY</a:t>
            </a:r>
          </a:p>
        </p:txBody>
      </p:sp>
      <p:sp>
        <p:nvSpPr>
          <p:cNvPr id="7" name="Rectangle 6"/>
          <p:cNvSpPr/>
          <p:nvPr/>
        </p:nvSpPr>
        <p:spPr>
          <a:xfrm>
            <a:off x="180000" y="972000"/>
            <a:ext cx="4248000" cy="579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8000" y="1080000"/>
            <a:ext cx="406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850D0"/>
                </a:solidFill>
                <a:latin typeface="微軟正黑體"/>
              </a:rPr>
              <a:t>原本流程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00" y="1512000"/>
            <a:ext cx="4068000" cy="52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E2E"/>
                </a:solidFill>
                <a:latin typeface="微軟正黑體"/>
              </a:rPr>
              <a:t>● 入訂單系統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00" y="2070000"/>
            <a:ext cx="4068000" cy="52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E2E"/>
                </a:solidFill>
                <a:latin typeface="微軟正黑體"/>
              </a:rPr>
              <a:t>● 累積數筆後一起生成裝櫃單號碼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00" y="2628000"/>
            <a:ext cx="4068000" cy="52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E2E"/>
                </a:solidFill>
                <a:latin typeface="微軟正黑體"/>
              </a:rPr>
              <a:t>● 先排序，避免跳來跳去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00" y="3186000"/>
            <a:ext cx="4068000" cy="52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E2E"/>
                </a:solidFill>
                <a:latin typeface="微軟正黑體"/>
              </a:rPr>
              <a:t>● 列印出來核對訂單資訊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00" y="3744000"/>
            <a:ext cx="4068000" cy="52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E2E"/>
                </a:solidFill>
                <a:latin typeface="微軟正黑體"/>
              </a:rPr>
              <a:t>● 再次確認各項資訊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00" y="4302000"/>
            <a:ext cx="4068000" cy="52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E2E"/>
                </a:solidFill>
                <a:latin typeface="微軟正黑體"/>
              </a:rPr>
              <a:t>● 丟單：竹南、成倉、彩霞姐各份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00" y="4860000"/>
            <a:ext cx="4068000" cy="52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E2E"/>
                </a:solidFill>
                <a:latin typeface="微軟正黑體"/>
              </a:rPr>
              <a:t>● 電話確認是否收到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08000" y="1080000"/>
            <a:ext cx="52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850D0"/>
                </a:solidFill>
                <a:latin typeface="微軟正黑體"/>
              </a:rPr>
              <a:t>🔧  新增小工具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08000" y="1565999"/>
            <a:ext cx="5220000" cy="166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08000" y="1565999"/>
            <a:ext cx="90000" cy="1662000"/>
          </a:xfrm>
          <a:prstGeom prst="rect">
            <a:avLst/>
          </a:prstGeom>
          <a:solidFill>
            <a:srgbClr val="085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2000" y="1638000"/>
            <a:ext cx="5004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850D0"/>
                </a:solidFill>
                <a:latin typeface="微軟正黑體"/>
              </a:rPr>
              <a:t>Google Sheet v3.13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2000" y="1998000"/>
            <a:ext cx="5004000" cy="11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99"/>
                </a:solidFill>
                <a:latin typeface="微軟正黑體"/>
              </a:rPr>
              <a:t>訂單自動產出模板
狀態即時追蹤、自動生成裝櫃單格式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08000" y="3318000"/>
            <a:ext cx="5220000" cy="166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608000" y="3318000"/>
            <a:ext cx="90000" cy="1662000"/>
          </a:xfrm>
          <a:prstGeom prst="rect">
            <a:avLst/>
          </a:prstGeom>
          <a:solidFill>
            <a:srgbClr val="085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2000" y="3390000"/>
            <a:ext cx="5004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850D0"/>
                </a:solidFill>
                <a:latin typeface="微軟正黑體"/>
              </a:rPr>
              <a:t>貨櫃裝載模擬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2000" y="3750000"/>
            <a:ext cx="5004000" cy="11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99"/>
                </a:solidFill>
                <a:latin typeface="微軟正黑體"/>
              </a:rPr>
              <a:t>輸入尺寸自動試算可裝捲數
快速確認配貨方案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08000" y="5070000"/>
            <a:ext cx="5220000" cy="166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608000" y="5070000"/>
            <a:ext cx="90000" cy="1662000"/>
          </a:xfrm>
          <a:prstGeom prst="rect">
            <a:avLst/>
          </a:prstGeom>
          <a:solidFill>
            <a:srgbClr val="085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52000" y="5142000"/>
            <a:ext cx="5004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850D0"/>
                </a:solidFill>
                <a:latin typeface="微軟正黑體"/>
              </a:rPr>
              <a:t>捲筒裝載模擬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2000" y="5502000"/>
            <a:ext cx="5004000" cy="11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99"/>
                </a:solidFill>
                <a:latin typeface="微軟正黑體"/>
              </a:rPr>
              <a:t>捲筒紙裝載量快速模擬計算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900000" cy="864000"/>
          </a:xfrm>
          <a:prstGeom prst="rect">
            <a:avLst/>
          </a:prstGeom>
          <a:solidFill>
            <a:srgbClr val="085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4000"/>
            <a:ext cx="9900000" cy="6012000"/>
          </a:xfrm>
          <a:prstGeom prst="rect">
            <a:avLst/>
          </a:prstGeom>
          <a:solidFill>
            <a:srgbClr val="F5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88000" y="162000"/>
            <a:ext cx="81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微軟正黑體"/>
              </a:rPr>
              <a:t>③ 訂　·　訂物料</a:t>
            </a:r>
          </a:p>
        </p:txBody>
      </p:sp>
      <p:sp>
        <p:nvSpPr>
          <p:cNvPr id="5" name="Rectangle 4"/>
          <p:cNvSpPr/>
          <p:nvPr/>
        </p:nvSpPr>
        <p:spPr>
          <a:xfrm>
            <a:off x="8460000" y="72000"/>
            <a:ext cx="1296000" cy="720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60000" y="72000"/>
            <a:ext cx="1296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微軟正黑體"/>
              </a:rPr>
              <a:t>③ 訂</a:t>
            </a:r>
          </a:p>
        </p:txBody>
      </p:sp>
      <p:sp>
        <p:nvSpPr>
          <p:cNvPr id="7" name="Rectangle 6"/>
          <p:cNvSpPr/>
          <p:nvPr/>
        </p:nvSpPr>
        <p:spPr>
          <a:xfrm>
            <a:off x="180000" y="972000"/>
            <a:ext cx="4248000" cy="579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8000" y="1080000"/>
            <a:ext cx="406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微軟正黑體"/>
              </a:rPr>
              <a:t>原本流程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00" y="1512000"/>
            <a:ext cx="4068000" cy="52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E2E"/>
                </a:solidFill>
                <a:latin typeface="微軟正黑體"/>
              </a:rPr>
              <a:t>● 依照目前紙機運行狀態確認排程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00" y="2070000"/>
            <a:ext cx="4068000" cy="52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E2E"/>
                </a:solidFill>
                <a:latin typeface="微軟正黑體"/>
              </a:rPr>
              <a:t>● 確認庫存物料是否足夠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00" y="2628000"/>
            <a:ext cx="4068000" cy="52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E2E"/>
                </a:solidFill>
                <a:latin typeface="微軟正黑體"/>
              </a:rPr>
              <a:t>● 適時補訂物料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08000" y="1080000"/>
            <a:ext cx="52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微軟正黑體"/>
              </a:rPr>
              <a:t>🔧  新增小工具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08000" y="1565999"/>
            <a:ext cx="5220000" cy="516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608000" y="1565999"/>
            <a:ext cx="90000" cy="5166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2000" y="1638000"/>
            <a:ext cx="5004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  <a:latin typeface="微軟正黑體"/>
              </a:rPr>
              <a:t>Google Sheet v3.13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2000" y="1998000"/>
            <a:ext cx="5004000" cy="46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99"/>
                </a:solidFill>
                <a:latin typeface="微軟正黑體"/>
              </a:rPr>
              <a:t>訂單狀態修改版
物料需求一覽、自動帶出規格
減少手動翻查記錄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900000" cy="864000"/>
          </a:xfrm>
          <a:prstGeom prst="rect">
            <a:avLst/>
          </a:prstGeom>
          <a:solidFill>
            <a:srgbClr val="085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4000"/>
            <a:ext cx="9900000" cy="6012000"/>
          </a:xfrm>
          <a:prstGeom prst="rect">
            <a:avLst/>
          </a:prstGeom>
          <a:solidFill>
            <a:srgbClr val="F5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88000" y="162000"/>
            <a:ext cx="81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微軟正黑體"/>
              </a:rPr>
              <a:t>④ 寫　·　嘜頭 ／ 生管本</a:t>
            </a:r>
          </a:p>
        </p:txBody>
      </p:sp>
      <p:sp>
        <p:nvSpPr>
          <p:cNvPr id="5" name="Rectangle 4"/>
          <p:cNvSpPr/>
          <p:nvPr/>
        </p:nvSpPr>
        <p:spPr>
          <a:xfrm>
            <a:off x="8460000" y="72000"/>
            <a:ext cx="1296000" cy="720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60000" y="72000"/>
            <a:ext cx="1296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微軟正黑體"/>
              </a:rPr>
              <a:t>④ 寫</a:t>
            </a:r>
          </a:p>
        </p:txBody>
      </p:sp>
      <p:sp>
        <p:nvSpPr>
          <p:cNvPr id="7" name="Rectangle 6"/>
          <p:cNvSpPr/>
          <p:nvPr/>
        </p:nvSpPr>
        <p:spPr>
          <a:xfrm>
            <a:off x="180000" y="972000"/>
            <a:ext cx="4248000" cy="579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8000" y="1080000"/>
            <a:ext cx="406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B5CF6"/>
                </a:solidFill>
                <a:latin typeface="微軟正黑體"/>
              </a:rPr>
              <a:t>原本流程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00" y="1512000"/>
            <a:ext cx="4068000" cy="52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E2E"/>
                </a:solidFill>
                <a:latin typeface="微軟正黑體"/>
              </a:rPr>
              <a:t>● 抄寫外銷訂貨單（固定格式）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00" y="2070000"/>
            <a:ext cx="4068000" cy="52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E2E"/>
                </a:solidFill>
                <a:latin typeface="微軟正黑體"/>
              </a:rPr>
              <a:t>● 填寫繳庫本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00" y="2628000"/>
            <a:ext cx="4068000" cy="52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E2E"/>
                </a:solidFill>
                <a:latin typeface="微軟正黑體"/>
              </a:rPr>
              <a:t>● 繳庫本追蹤目前包裝進度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08000" y="1080000"/>
            <a:ext cx="52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B5CF6"/>
                </a:solidFill>
                <a:latin typeface="微軟正黑體"/>
              </a:rPr>
              <a:t>🔧  新增小工具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08000" y="1565999"/>
            <a:ext cx="5220000" cy="516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608000" y="1565999"/>
            <a:ext cx="90000" cy="5166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2000" y="1638000"/>
            <a:ext cx="5004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B5CF6"/>
                </a:solidFill>
                <a:latin typeface="微軟正黑體"/>
              </a:rPr>
              <a:t>嘜頭資料產生器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2000" y="1998000"/>
            <a:ext cx="5004000" cy="46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99"/>
                </a:solidFill>
                <a:latin typeface="微軟正黑體"/>
              </a:rPr>
              <a:t>輸入客戶資料 → 自動排版嘜頭格式
告別手寫抄錯，版面整齊一致
列印即用、省去校對時間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900000" cy="864000"/>
          </a:xfrm>
          <a:prstGeom prst="rect">
            <a:avLst/>
          </a:prstGeom>
          <a:solidFill>
            <a:srgbClr val="085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4000"/>
            <a:ext cx="9900000" cy="6012000"/>
          </a:xfrm>
          <a:prstGeom prst="rect">
            <a:avLst/>
          </a:prstGeom>
          <a:solidFill>
            <a:srgbClr val="F5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88000" y="162000"/>
            <a:ext cx="81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微軟正黑體"/>
              </a:rPr>
              <a:t>⑤ 收　·　出貨追蹤 ／ 客訴處理</a:t>
            </a:r>
          </a:p>
        </p:txBody>
      </p:sp>
      <p:sp>
        <p:nvSpPr>
          <p:cNvPr id="5" name="Rectangle 4"/>
          <p:cNvSpPr/>
          <p:nvPr/>
        </p:nvSpPr>
        <p:spPr>
          <a:xfrm>
            <a:off x="8460000" y="72000"/>
            <a:ext cx="1296000" cy="7200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60000" y="72000"/>
            <a:ext cx="1296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微軟正黑體"/>
              </a:rPr>
              <a:t>⑤ 收</a:t>
            </a:r>
          </a:p>
        </p:txBody>
      </p:sp>
      <p:sp>
        <p:nvSpPr>
          <p:cNvPr id="7" name="Rectangle 6"/>
          <p:cNvSpPr/>
          <p:nvPr/>
        </p:nvSpPr>
        <p:spPr>
          <a:xfrm>
            <a:off x="180000" y="972000"/>
            <a:ext cx="4248000" cy="579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8000" y="1080000"/>
            <a:ext cx="406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C4899"/>
                </a:solidFill>
                <a:latin typeface="微軟正黑體"/>
              </a:rPr>
              <a:t>原本流程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00" y="1512000"/>
            <a:ext cx="4068000" cy="52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E2E"/>
                </a:solidFill>
                <a:latin typeface="微軟正黑體"/>
              </a:rPr>
              <a:t>● 追蹤貨櫃出貨狀況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00" y="2070000"/>
            <a:ext cx="4068000" cy="52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E2E"/>
                </a:solidFill>
                <a:latin typeface="微軟正黑體"/>
              </a:rPr>
              <a:t>● 已出貨 → 外銷訂貨單收起來備查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08000" y="1080000"/>
            <a:ext cx="52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C4899"/>
                </a:solidFill>
                <a:latin typeface="微軟正黑體"/>
              </a:rPr>
              <a:t>🔧  新增小工具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08000" y="1565999"/>
            <a:ext cx="5220000" cy="516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608000" y="1565999"/>
            <a:ext cx="90000" cy="51660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2000" y="1638000"/>
            <a:ext cx="5004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C4899"/>
                </a:solidFill>
                <a:latin typeface="微軟正黑體"/>
              </a:rPr>
              <a:t>客訴處理機器人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2000" y="1998000"/>
            <a:ext cx="5004000" cy="46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99"/>
                </a:solidFill>
                <a:latin typeface="微軟正黑體"/>
              </a:rPr>
              <a:t>快速回應客訴
自動產出標準回覆草稿
降低溝通成本、縮短回覆時間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900000" cy="864000"/>
          </a:xfrm>
          <a:prstGeom prst="rect">
            <a:avLst/>
          </a:prstGeom>
          <a:solidFill>
            <a:srgbClr val="085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4000"/>
            <a:ext cx="9900000" cy="6012000"/>
          </a:xfrm>
          <a:prstGeom prst="rect">
            <a:avLst/>
          </a:prstGeom>
          <a:solidFill>
            <a:srgbClr val="F5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88000" y="162000"/>
            <a:ext cx="81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微軟正黑體"/>
              </a:rPr>
              <a:t>數位工具總覽　·　一頁速查</a:t>
            </a:r>
          </a:p>
        </p:txBody>
      </p:sp>
      <p:sp>
        <p:nvSpPr>
          <p:cNvPr id="5" name="Rectangle 4"/>
          <p:cNvSpPr/>
          <p:nvPr/>
        </p:nvSpPr>
        <p:spPr>
          <a:xfrm>
            <a:off x="180000" y="936000"/>
            <a:ext cx="9540000" cy="579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98000" y="990000"/>
            <a:ext cx="792000" cy="10692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8000" y="990000"/>
            <a:ext cx="792000" cy="106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微軟正黑體"/>
              </a:rPr>
              <a:t>①算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0000" y="1080000"/>
            <a:ext cx="8532000" cy="88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2E"/>
                </a:solidFill>
                <a:latin typeface="微軟正黑體"/>
              </a:rPr>
              <a:t>PM1 配抄工具 ×4 單位　PM2 配抄工具 ×4 單位　訂單計算機 ×4 單位　平版束數查詢</a:t>
            </a:r>
          </a:p>
        </p:txBody>
      </p:sp>
      <p:sp>
        <p:nvSpPr>
          <p:cNvPr id="9" name="Rectangle 8"/>
          <p:cNvSpPr/>
          <p:nvPr/>
        </p:nvSpPr>
        <p:spPr>
          <a:xfrm>
            <a:off x="198000" y="2113200"/>
            <a:ext cx="792000" cy="1069200"/>
          </a:xfrm>
          <a:prstGeom prst="rect">
            <a:avLst/>
          </a:prstGeom>
          <a:solidFill>
            <a:srgbClr val="085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8000" y="2113200"/>
            <a:ext cx="792000" cy="106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微軟正黑體"/>
              </a:rPr>
              <a:t>②KEY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0000" y="2203200"/>
            <a:ext cx="8532000" cy="88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2E"/>
                </a:solidFill>
                <a:latin typeface="微軟正黑體"/>
              </a:rPr>
              <a:t>Google Sheet v3.13 訂單系統　貨櫃裝載模擬　捲筒裝載模擬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8000" y="3236400"/>
            <a:ext cx="792000" cy="1069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8000" y="3236400"/>
            <a:ext cx="792000" cy="106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微軟正黑體"/>
              </a:rPr>
              <a:t>③訂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0000" y="3326400"/>
            <a:ext cx="8532000" cy="88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2E"/>
                </a:solidFill>
                <a:latin typeface="微軟正黑體"/>
              </a:rPr>
              <a:t>Google Sheet v3.13（物料訂單追蹤）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98000" y="4359600"/>
            <a:ext cx="792000" cy="10692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98000" y="4359600"/>
            <a:ext cx="792000" cy="106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微軟正黑體"/>
              </a:rPr>
              <a:t>④寫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0000" y="4449600"/>
            <a:ext cx="8532000" cy="88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2E"/>
                </a:solidFill>
                <a:latin typeface="微軟正黑體"/>
              </a:rPr>
              <a:t>嘜頭資料產生器（自動排版輸出）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98000" y="5482800"/>
            <a:ext cx="792000" cy="10692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98000" y="5482800"/>
            <a:ext cx="792000" cy="106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微軟正黑體"/>
              </a:rPr>
              <a:t>⑤收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0000" y="5572800"/>
            <a:ext cx="8532000" cy="88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2E"/>
                </a:solidFill>
                <a:latin typeface="微軟正黑體"/>
              </a:rPr>
              <a:t>客訴處理機器人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900000" cy="864000"/>
          </a:xfrm>
          <a:prstGeom prst="rect">
            <a:avLst/>
          </a:prstGeom>
          <a:solidFill>
            <a:srgbClr val="085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4000"/>
            <a:ext cx="9900000" cy="6012000"/>
          </a:xfrm>
          <a:prstGeom prst="rect">
            <a:avLst/>
          </a:prstGeom>
          <a:solidFill>
            <a:srgbClr val="F5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88000" y="162000"/>
            <a:ext cx="81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微軟正黑體"/>
              </a:rPr>
              <a:t>業務工具箱儀表板　·　算 ／ KEY　示意</a:t>
            </a:r>
          </a:p>
        </p:txBody>
      </p:sp>
      <p:pic>
        <p:nvPicPr>
          <p:cNvPr id="5" name="Picture 4" descr="dashboard_01_算K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00" y="972000"/>
            <a:ext cx="9324000" cy="826249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900000" cy="864000"/>
          </a:xfrm>
          <a:prstGeom prst="rect">
            <a:avLst/>
          </a:prstGeom>
          <a:solidFill>
            <a:srgbClr val="085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4000"/>
            <a:ext cx="9900000" cy="6012000"/>
          </a:xfrm>
          <a:prstGeom prst="rect">
            <a:avLst/>
          </a:prstGeom>
          <a:solidFill>
            <a:srgbClr val="F5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88000" y="162000"/>
            <a:ext cx="81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微軟正黑體"/>
              </a:rPr>
              <a:t>業務工具箱儀表板　·　訂 ／ 寫 ／ 收　示意</a:t>
            </a:r>
          </a:p>
        </p:txBody>
      </p:sp>
      <p:pic>
        <p:nvPicPr>
          <p:cNvPr id="5" name="Picture 4" descr="dashboard_02_訂寫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000" y="972000"/>
            <a:ext cx="5940000" cy="3509169"/>
          </a:xfrm>
          <a:prstGeom prst="rect">
            <a:avLst/>
          </a:prstGeom>
        </p:spPr>
      </p:pic>
      <p:pic>
        <p:nvPicPr>
          <p:cNvPr id="6" name="Picture 5" descr="dashboard_03_收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8000" y="972000"/>
            <a:ext cx="3564000" cy="164492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