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490" r:id="rId2"/>
    <p:sldId id="272" r:id="rId3"/>
    <p:sldId id="760" r:id="rId4"/>
    <p:sldId id="764" r:id="rId5"/>
    <p:sldId id="757" r:id="rId6"/>
    <p:sldId id="761" r:id="rId7"/>
    <p:sldId id="759" r:id="rId8"/>
    <p:sldId id="762" r:id="rId9"/>
    <p:sldId id="763" r:id="rId10"/>
    <p:sldId id="765" r:id="rId11"/>
  </p:sldIdLst>
  <p:sldSz cx="9906000" cy="6858000" type="A4"/>
  <p:notesSz cx="6797675" cy="9926638"/>
  <p:defaultTextStyle>
    <a:defPPr>
      <a:defRPr lang="en-US"/>
    </a:defPPr>
    <a:lvl1pPr algn="l" defTabSz="477748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77748" indent="-20635" algn="l" defTabSz="477748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57081" indent="-42855" algn="l" defTabSz="477748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436415" indent="-65076" algn="l" defTabSz="477748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914161" indent="-85708" algn="l" defTabSz="477748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5565" algn="l" defTabSz="914227" rtl="0" eaLnBrk="1" latinLnBrk="0" hangingPunct="1"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2679" algn="l" defTabSz="914227" rtl="0" eaLnBrk="1" latinLnBrk="0" hangingPunct="1"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199792" algn="l" defTabSz="914227" rtl="0" eaLnBrk="1" latinLnBrk="0" hangingPunct="1"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6905" algn="l" defTabSz="914227" rtl="0" eaLnBrk="1" latinLnBrk="0" hangingPunct="1">
      <a:defRPr sz="19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0D0"/>
    <a:srgbClr val="1A76FB"/>
    <a:srgbClr val="26A9F8"/>
    <a:srgbClr val="1252FB"/>
    <a:srgbClr val="0014FE"/>
    <a:srgbClr val="15A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6"/>
    <p:restoredTop sz="81127"/>
  </p:normalViewPr>
  <p:slideViewPr>
    <p:cSldViewPr snapToObjects="1">
      <p:cViewPr varScale="1">
        <p:scale>
          <a:sx n="60" d="100"/>
          <a:sy n="60" d="100"/>
        </p:scale>
        <p:origin x="2364" y="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659" cy="498056"/>
          </a:xfrm>
          <a:prstGeom prst="rect">
            <a:avLst/>
          </a:prstGeom>
        </p:spPr>
        <p:txBody>
          <a:bodyPr vert="horz" lIns="95541" tIns="47771" rIns="95541" bIns="4777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2"/>
            <a:ext cx="2945659" cy="498056"/>
          </a:xfrm>
          <a:prstGeom prst="rect">
            <a:avLst/>
          </a:prstGeom>
        </p:spPr>
        <p:txBody>
          <a:bodyPr vert="horz" lIns="95541" tIns="47771" rIns="95541" bIns="47771" rtlCol="0"/>
          <a:lstStyle>
            <a:lvl1pPr algn="r">
              <a:defRPr sz="1300"/>
            </a:lvl1pPr>
          </a:lstStyle>
          <a:p>
            <a:fld id="{E99A0861-C3A8-A843-AF85-49AAD1F2A5AF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39838"/>
            <a:ext cx="48387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41" tIns="47771" rIns="95541" bIns="4777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6"/>
            <a:ext cx="5438140" cy="3908614"/>
          </a:xfrm>
          <a:prstGeom prst="rect">
            <a:avLst/>
          </a:prstGeom>
        </p:spPr>
        <p:txBody>
          <a:bodyPr vert="horz" lIns="95541" tIns="47771" rIns="95541" bIns="4777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5541" tIns="47771" rIns="95541" bIns="4777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5541" tIns="47771" rIns="95541" bIns="47771" rtlCol="0" anchor="b"/>
          <a:lstStyle>
            <a:lvl1pPr algn="r">
              <a:defRPr sz="1300"/>
            </a:lvl1pPr>
          </a:lstStyle>
          <a:p>
            <a:fld id="{525A9070-F5B9-9246-BA6B-A360AE58D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4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27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52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65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92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05" algn="l" defTabSz="91422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8F76-7391-E576-5528-DB371F92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534AF-28F7-F7E0-C972-C680B8A9E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79488" y="1239838"/>
            <a:ext cx="4838700" cy="33512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05C82-DB38-EBC6-5E55-3BD8A37BF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6F8DE-C7A2-041A-8BC9-DEE60B447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A9070-F5B9-9246-BA6B-A360AE58D9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32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/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14A3594B-55CC-0C2B-B3F3-69C842AA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F19C98D6-DC7D-045C-E9FE-18D034F7B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753F7DF1-92F9-1993-E44A-317E7B9E3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1285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27C9A217-D3E9-0E3F-FC7C-798264E2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554B743D-8331-552A-F15E-9C8A08D1E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B388CE1A-0C79-62F8-7292-9E0B7F34E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5211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6EC0D45F-73B0-19FE-C3A2-4BFA1763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4D491C86-A9BC-7D97-3239-E8A48708C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8A2CC586-CD30-9FAE-3EB7-37E2CAF927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53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749099B9-ED9A-A981-2D5F-1C8150A8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D89745A0-A43B-7A6C-5DA7-05B4327F5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89B5D371-9762-364A-9488-CF1F54833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794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22DB1CBB-584D-864A-CB72-8B186C9F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4056EF40-5B4A-18F7-12D7-C02712EC3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E6494398-A439-484A-7FE1-EBCCC478B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9820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8CFD7B67-58D7-4CFB-45AD-4440824B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A58999D7-055B-EE54-2930-14152CD34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9BB11AF3-BC9D-8A3E-D95D-EFF997F53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9145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F66D4EEC-B808-3445-92BF-AA1B8526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32B0B0A4-F047-E6C1-CE97-8FE9CD2EE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1ACE2AE0-7F69-4FF2-9404-C6DCA02D1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20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C4AB9829-4600-B9E0-1087-F2F0EB9E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f4cee9eeb_0_6:notes">
            <a:extLst>
              <a:ext uri="{FF2B5EF4-FFF2-40B4-BE49-F238E27FC236}">
                <a16:creationId xmlns:a16="http://schemas.microsoft.com/office/drawing/2014/main" id="{93134864-4E7A-5026-3990-5EAF0D2F4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1888" y="3536366"/>
            <a:ext cx="7855091" cy="3350240"/>
          </a:xfrm>
          <a:prstGeom prst="rect">
            <a:avLst/>
          </a:prstGeom>
        </p:spPr>
        <p:txBody>
          <a:bodyPr spcFirstLastPara="1" wrap="square" lIns="95527" tIns="95527" rIns="95527" bIns="95527" anchor="t" anchorCtr="0">
            <a:noAutofit/>
          </a:bodyPr>
          <a:lstStyle/>
          <a:p>
            <a:endParaRPr/>
          </a:p>
        </p:txBody>
      </p:sp>
      <p:sp>
        <p:nvSpPr>
          <p:cNvPr id="243" name="Google Shape;243;g34f4cee9eeb_0_6:notes">
            <a:extLst>
              <a:ext uri="{FF2B5EF4-FFF2-40B4-BE49-F238E27FC236}">
                <a16:creationId xmlns:a16="http://schemas.microsoft.com/office/drawing/2014/main" id="{F85BE1AB-54E3-0CDE-ACBA-F7EDE7354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558800"/>
            <a:ext cx="4030662" cy="2790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839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33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1A43E-9D6B-FD4D-B434-434F00875268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56C10B-4CEC-384D-A113-3E9C84C22D0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87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" y="0"/>
            <a:ext cx="7772400" cy="838200"/>
          </a:xfrm>
        </p:spPr>
        <p:txBody>
          <a:bodyPr/>
          <a:lstStyle>
            <a:lvl1pPr>
              <a:defRPr sz="3700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42048-B438-C749-A6D9-89B2E7BCDC25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30646-3A25-1F40-B17E-5E39FB147D0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027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6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8"/>
            <a:ext cx="8420100" cy="150018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89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7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3668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58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447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33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227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116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24AEB-F134-A343-A6B0-AF531F350C0C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AEBC0-008D-6E4E-A083-07C4620FD13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810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4"/>
            <a:ext cx="4375150" cy="4525963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4"/>
            <a:ext cx="4375150" cy="4525963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C59-B51A-A042-9FA3-D005CD20186F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2D590-5CAB-804D-8262-AC0C3B38D8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985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6"/>
            <a:ext cx="4376870" cy="639763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96" indent="0">
              <a:buNone/>
              <a:defRPr sz="2100" b="1"/>
            </a:lvl2pPr>
            <a:lvl3pPr marL="957792" indent="0">
              <a:buNone/>
              <a:defRPr sz="1900" b="1"/>
            </a:lvl3pPr>
            <a:lvl4pPr marL="1436688" indent="0">
              <a:buNone/>
              <a:defRPr sz="1600" b="1"/>
            </a:lvl4pPr>
            <a:lvl5pPr marL="1915583" indent="0">
              <a:buNone/>
              <a:defRPr sz="1600" b="1"/>
            </a:lvl5pPr>
            <a:lvl6pPr marL="2394479" indent="0">
              <a:buNone/>
              <a:defRPr sz="1600" b="1"/>
            </a:lvl6pPr>
            <a:lvl7pPr marL="2873375" indent="0">
              <a:buNone/>
              <a:defRPr sz="1600" b="1"/>
            </a:lvl7pPr>
            <a:lvl8pPr marL="3352271" indent="0">
              <a:buNone/>
              <a:defRPr sz="1600" b="1"/>
            </a:lvl8pPr>
            <a:lvl9pPr marL="383116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6"/>
            <a:ext cx="4378591" cy="639763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96" indent="0">
              <a:buNone/>
              <a:defRPr sz="2100" b="1"/>
            </a:lvl2pPr>
            <a:lvl3pPr marL="957792" indent="0">
              <a:buNone/>
              <a:defRPr sz="1900" b="1"/>
            </a:lvl3pPr>
            <a:lvl4pPr marL="1436688" indent="0">
              <a:buNone/>
              <a:defRPr sz="1600" b="1"/>
            </a:lvl4pPr>
            <a:lvl5pPr marL="1915583" indent="0">
              <a:buNone/>
              <a:defRPr sz="1600" b="1"/>
            </a:lvl5pPr>
            <a:lvl6pPr marL="2394479" indent="0">
              <a:buNone/>
              <a:defRPr sz="1600" b="1"/>
            </a:lvl6pPr>
            <a:lvl7pPr marL="2873375" indent="0">
              <a:buNone/>
              <a:defRPr sz="1600" b="1"/>
            </a:lvl7pPr>
            <a:lvl8pPr marL="3352271" indent="0">
              <a:buNone/>
              <a:defRPr sz="1600" b="1"/>
            </a:lvl8pPr>
            <a:lvl9pPr marL="383116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1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B668F-9727-AC4C-879E-637A7AA58DD5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6F35F-CA1E-2F4E-BB0F-BCABE663CA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129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43242-E004-5A4D-AF2C-61EEC85A83C6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BC86E-1F9A-DC47-AD8D-6431547D419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784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5449E-18CD-0A45-B774-13F95911E6EF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FF271-E7CD-2A4B-BB0C-C21E08AC67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135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4" y="273052"/>
            <a:ext cx="3259006" cy="1162051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4" y="273055"/>
            <a:ext cx="5537728" cy="585311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4" y="1435104"/>
            <a:ext cx="3259006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78896" indent="0">
              <a:buNone/>
              <a:defRPr sz="1300"/>
            </a:lvl2pPr>
            <a:lvl3pPr marL="957792" indent="0">
              <a:buNone/>
              <a:defRPr sz="1000"/>
            </a:lvl3pPr>
            <a:lvl4pPr marL="1436688" indent="0">
              <a:buNone/>
              <a:defRPr sz="1000"/>
            </a:lvl4pPr>
            <a:lvl5pPr marL="1915583" indent="0">
              <a:buNone/>
              <a:defRPr sz="1000"/>
            </a:lvl5pPr>
            <a:lvl6pPr marL="2394479" indent="0">
              <a:buNone/>
              <a:defRPr sz="1000"/>
            </a:lvl6pPr>
            <a:lvl7pPr marL="2873375" indent="0">
              <a:buNone/>
              <a:defRPr sz="1000"/>
            </a:lvl7pPr>
            <a:lvl8pPr marL="3352271" indent="0">
              <a:buNone/>
              <a:defRPr sz="1000"/>
            </a:lvl8pPr>
            <a:lvl9pPr marL="383116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B6657-8785-DE46-AEAE-55FE3C0A21D8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18273-448B-C145-BDA8-9B5D545CA5E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731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3"/>
            <a:ext cx="5943600" cy="56674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400"/>
            </a:lvl1pPr>
            <a:lvl2pPr marL="478896" indent="0">
              <a:buNone/>
              <a:defRPr sz="2900"/>
            </a:lvl2pPr>
            <a:lvl3pPr marL="957792" indent="0">
              <a:buNone/>
              <a:defRPr sz="2500"/>
            </a:lvl3pPr>
            <a:lvl4pPr marL="1436688" indent="0">
              <a:buNone/>
              <a:defRPr sz="2100"/>
            </a:lvl4pPr>
            <a:lvl5pPr marL="1915583" indent="0">
              <a:buNone/>
              <a:defRPr sz="2100"/>
            </a:lvl5pPr>
            <a:lvl6pPr marL="2394479" indent="0">
              <a:buNone/>
              <a:defRPr sz="2100"/>
            </a:lvl6pPr>
            <a:lvl7pPr marL="2873375" indent="0">
              <a:buNone/>
              <a:defRPr sz="2100"/>
            </a:lvl7pPr>
            <a:lvl8pPr marL="3352271" indent="0">
              <a:buNone/>
              <a:defRPr sz="2100"/>
            </a:lvl8pPr>
            <a:lvl9pPr marL="3831167" indent="0">
              <a:buNone/>
              <a:defRPr sz="21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41"/>
            <a:ext cx="59436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78896" indent="0">
              <a:buNone/>
              <a:defRPr sz="1300"/>
            </a:lvl2pPr>
            <a:lvl3pPr marL="957792" indent="0">
              <a:buNone/>
              <a:defRPr sz="1000"/>
            </a:lvl3pPr>
            <a:lvl4pPr marL="1436688" indent="0">
              <a:buNone/>
              <a:defRPr sz="1000"/>
            </a:lvl4pPr>
            <a:lvl5pPr marL="1915583" indent="0">
              <a:buNone/>
              <a:defRPr sz="1000"/>
            </a:lvl5pPr>
            <a:lvl6pPr marL="2394479" indent="0">
              <a:buNone/>
              <a:defRPr sz="1000"/>
            </a:lvl6pPr>
            <a:lvl7pPr marL="2873375" indent="0">
              <a:buNone/>
              <a:defRPr sz="1000"/>
            </a:lvl7pPr>
            <a:lvl8pPr marL="3352271" indent="0">
              <a:buNone/>
              <a:defRPr sz="1000"/>
            </a:lvl8pPr>
            <a:lvl9pPr marL="383116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1ECF7-D0BE-F447-B7AB-47A02F183C35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67C49-5DF6-F546-86F2-F6881734C29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117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BE03A-050A-B84C-AF93-908C659EB53F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841215-DC81-8C4D-AE23-F89B119BDFC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58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44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4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1F7F1-8142-F84B-85F1-0977B5593D14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03632-3D22-6044-83AD-D9B88678E1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753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47763" y="454659"/>
            <a:ext cx="8210472" cy="54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5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239000" cy="838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endParaRPr lang="zh-TW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5300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4"/>
            <a:ext cx="2311400" cy="365125"/>
          </a:xfrm>
          <a:prstGeom prst="rect">
            <a:avLst/>
          </a:prstGeom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16267C9B-D2AB-8B47-9398-CAF712D12EE3}" type="datetime1">
              <a:rPr lang="en-US" altLang="zh-TW"/>
              <a:pPr>
                <a:defRPr/>
              </a:pPr>
              <a:t>3/26/2026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4"/>
            <a:ext cx="3136900" cy="365125"/>
          </a:xfrm>
          <a:prstGeom prst="rect">
            <a:avLst/>
          </a:prstGeom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00">
                <a:solidFill>
                  <a:srgbClr val="898989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4"/>
            <a:ext cx="2311400" cy="365125"/>
          </a:xfrm>
          <a:prstGeom prst="rect">
            <a:avLst/>
          </a:prstGeom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0F8750C0-5DFD-734B-A4A0-5A7E57D2511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71" r:id="rId12"/>
  </p:sldLayoutIdLst>
  <p:txStyles>
    <p:titleStyle>
      <a:lvl1pPr algn="l" defTabSz="477827" rtl="0" eaLnBrk="0" fontAlgn="base" hangingPunct="0">
        <a:spcBef>
          <a:spcPct val="0"/>
        </a:spcBef>
        <a:spcAft>
          <a:spcPct val="0"/>
        </a:spcAft>
        <a:defRPr kumimoji="1" sz="4600" kern="1200">
          <a:solidFill>
            <a:schemeClr val="tx1"/>
          </a:solidFill>
          <a:latin typeface="+mj-lt"/>
          <a:ea typeface="ＭＳ Ｐゴシック" pitchFamily="30" charset="-128"/>
          <a:cs typeface="ＭＳ Ｐゴシック" pitchFamily="30" charset="-128"/>
        </a:defRPr>
      </a:lvl1pPr>
      <a:lvl2pPr algn="l" defTabSz="477827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2pPr>
      <a:lvl3pPr algn="l" defTabSz="477827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3pPr>
      <a:lvl4pPr algn="l" defTabSz="477827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4pPr>
      <a:lvl5pPr algn="l" defTabSz="477827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5pPr>
      <a:lvl6pPr marL="457189" algn="l" defTabSz="477827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6pPr>
      <a:lvl7pPr marL="914377" algn="l" defTabSz="477827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7pPr>
      <a:lvl8pPr marL="1371566" algn="l" defTabSz="477827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8pPr>
      <a:lvl9pPr marL="1828754" algn="l" defTabSz="477827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Calibri" pitchFamily="30" charset="0"/>
          <a:ea typeface="ＭＳ Ｐゴシック" pitchFamily="30" charset="-128"/>
          <a:cs typeface="ＭＳ Ｐゴシック" pitchFamily="30" charset="-128"/>
        </a:defRPr>
      </a:lvl9pPr>
    </p:titleStyle>
    <p:bodyStyle>
      <a:lvl1pPr marL="358766" indent="-358766" algn="l" defTabSz="477827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400" kern="1200">
          <a:solidFill>
            <a:schemeClr val="tx1"/>
          </a:solidFill>
          <a:latin typeface="+mn-lt"/>
          <a:ea typeface="ＭＳ Ｐゴシック" pitchFamily="30" charset="-128"/>
          <a:cs typeface="ＭＳ Ｐゴシック" pitchFamily="30" charset="-128"/>
        </a:defRPr>
      </a:lvl1pPr>
      <a:lvl2pPr marL="777855" indent="-298443" algn="l" defTabSz="477827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900" kern="1200">
          <a:solidFill>
            <a:schemeClr val="tx1"/>
          </a:solidFill>
          <a:latin typeface="+mn-lt"/>
          <a:ea typeface="ＭＳ Ｐゴシック" pitchFamily="30" charset="-128"/>
          <a:cs typeface="ＭＳ Ｐゴシック" charset="0"/>
        </a:defRPr>
      </a:lvl2pPr>
      <a:lvl3pPr marL="1196945" indent="-238119" algn="l" defTabSz="477827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500" kern="1200">
          <a:solidFill>
            <a:schemeClr val="tx1"/>
          </a:solidFill>
          <a:latin typeface="+mn-lt"/>
          <a:ea typeface="ＭＳ Ｐゴシック" pitchFamily="30" charset="-128"/>
          <a:cs typeface="ＭＳ Ｐゴシック" charset="0"/>
        </a:defRPr>
      </a:lvl3pPr>
      <a:lvl4pPr marL="1674771" indent="-238119" algn="l" defTabSz="477827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100" kern="1200">
          <a:solidFill>
            <a:schemeClr val="tx1"/>
          </a:solidFill>
          <a:latin typeface="+mn-lt"/>
          <a:ea typeface="ＭＳ Ｐゴシック" pitchFamily="30" charset="-128"/>
          <a:cs typeface="ＭＳ Ｐゴシック" charset="0"/>
        </a:defRPr>
      </a:lvl4pPr>
      <a:lvl5pPr marL="2154185" indent="-238119" algn="l" defTabSz="477827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100" kern="1200">
          <a:solidFill>
            <a:schemeClr val="tx1"/>
          </a:solidFill>
          <a:latin typeface="+mn-lt"/>
          <a:ea typeface="ＭＳ Ｐゴシック" pitchFamily="30" charset="-128"/>
          <a:cs typeface="ＭＳ Ｐゴシック" charset="0"/>
        </a:defRPr>
      </a:lvl5pPr>
      <a:lvl6pPr marL="2633927" indent="-239449" algn="l" defTabSz="47889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824" indent="-239449" algn="l" defTabSz="47889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720" indent="-239449" algn="l" defTabSz="47889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616" indent="-239449" algn="l" defTabSz="478896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96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792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688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583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479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375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271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167" algn="l" defTabSz="4788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3B12-56AD-37DE-F499-50FF5BED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tree, plant, grass&#10;&#10;Description automatically generated">
            <a:extLst>
              <a:ext uri="{FF2B5EF4-FFF2-40B4-BE49-F238E27FC236}">
                <a16:creationId xmlns:a16="http://schemas.microsoft.com/office/drawing/2014/main" id="{C515CC41-36F8-8B43-3D56-D4ABBBA0DE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79" r="16724"/>
          <a:stretch/>
        </p:blipFill>
        <p:spPr>
          <a:xfrm>
            <a:off x="1" y="0"/>
            <a:ext cx="9905999" cy="3718865"/>
          </a:xfrm>
          <a:prstGeom prst="rect">
            <a:avLst/>
          </a:prstGeom>
        </p:spPr>
      </p:pic>
      <p:pic>
        <p:nvPicPr>
          <p:cNvPr id="16391" name="Picture 1">
            <a:extLst>
              <a:ext uri="{FF2B5EF4-FFF2-40B4-BE49-F238E27FC236}">
                <a16:creationId xmlns:a16="http://schemas.microsoft.com/office/drawing/2014/main" id="{7D030583-3657-A616-F904-3393845A79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8798"/>
          <a:stretch/>
        </p:blipFill>
        <p:spPr bwMode="auto">
          <a:xfrm>
            <a:off x="2072680" y="4653136"/>
            <a:ext cx="901497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6BFA29-F20D-FC29-2022-4EB39B897C66}"/>
              </a:ext>
            </a:extLst>
          </p:cNvPr>
          <p:cNvSpPr txBox="1"/>
          <p:nvPr/>
        </p:nvSpPr>
        <p:spPr>
          <a:xfrm>
            <a:off x="3152800" y="4833722"/>
            <a:ext cx="6480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外銷訂單處理流程</a:t>
            </a:r>
            <a:endParaRPr lang="en-TW" sz="2800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582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7E8945F-EEED-D444-5871-08EA9C98B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52" y="0"/>
            <a:ext cx="538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3CC4EDA-9AC9-73C6-89AE-DECD113B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F49E3043-57AA-D43E-6D79-5FCD9EB2A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55179E58-48C4-0E4B-53FC-3BA51F4F940B}"/>
              </a:ext>
            </a:extLst>
          </p:cNvPr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FE6395-B827-35EE-3260-7DE338188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85" y="0"/>
            <a:ext cx="4858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4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F20014BD-8ECE-F6D5-A5CB-FA9E945D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ABC0FA33-7F2A-3DDD-EF7F-B17B57008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A00F39E3-AE11-8744-F224-423B172FC7B7}"/>
              </a:ext>
            </a:extLst>
          </p:cNvPr>
          <p:cNvSpPr txBox="1"/>
          <p:nvPr/>
        </p:nvSpPr>
        <p:spPr>
          <a:xfrm>
            <a:off x="553792" y="901285"/>
            <a:ext cx="9151735" cy="74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zh-TW" altLang="en-US" sz="2800" dirty="0"/>
              <a:t>先看表格確定 </a:t>
            </a:r>
            <a:r>
              <a:rPr lang="zh-TW" altLang="en-US" sz="1800" dirty="0"/>
              <a:t>束</a:t>
            </a:r>
            <a:r>
              <a:rPr lang="en-US" altLang="zh-TW" sz="1800" dirty="0"/>
              <a:t>/</a:t>
            </a:r>
            <a:r>
              <a:rPr lang="zh-TW" altLang="en-US" sz="1800" dirty="0"/>
              <a:t>板</a:t>
            </a:r>
            <a:r>
              <a:rPr lang="zh-TW" altLang="en-US" sz="2800" dirty="0"/>
              <a:t> 或</a:t>
            </a:r>
            <a:r>
              <a:rPr lang="zh-TW" altLang="en-US" sz="1800" dirty="0"/>
              <a:t>捲筒長度</a:t>
            </a:r>
            <a:endParaRPr lang="zh-TW" altLang="en-US" sz="2800" dirty="0"/>
          </a:p>
          <a:p>
            <a:r>
              <a:rPr lang="zh-TW" altLang="en-US" sz="2800" dirty="0"/>
              <a:t>入系統計算單顆重量</a:t>
            </a:r>
          </a:p>
          <a:p>
            <a:r>
              <a:rPr lang="zh-TW" altLang="en-US" sz="2800" dirty="0"/>
              <a:t>看訂單噸數推算有幾件</a:t>
            </a:r>
          </a:p>
          <a:p>
            <a:r>
              <a:rPr lang="zh-TW" altLang="en-US" sz="2800" dirty="0"/>
              <a:t>幾件*單顆重量</a:t>
            </a:r>
            <a:r>
              <a:rPr lang="en-US" altLang="zh-TW" sz="2800" dirty="0"/>
              <a:t>=</a:t>
            </a:r>
            <a:r>
              <a:rPr lang="zh-TW" altLang="en-US" sz="2800" dirty="0"/>
              <a:t>重量</a:t>
            </a:r>
          </a:p>
          <a:p>
            <a:r>
              <a:rPr lang="zh-TW" altLang="en-US" sz="2800" dirty="0"/>
              <a:t>再加總整張的重量是否相符</a:t>
            </a:r>
            <a:br>
              <a:rPr lang="en-US" altLang="zh-TW" sz="2800" dirty="0"/>
            </a:br>
            <a:br>
              <a:rPr lang="en-US" altLang="zh-TW" sz="2800" dirty="0"/>
            </a:br>
            <a:r>
              <a:rPr lang="zh-TW" altLang="en-US" sz="2000" b="1" dirty="0"/>
              <a:t>分配好櫃次順序 方便拆櫃 </a:t>
            </a:r>
            <a:r>
              <a:rPr lang="zh-TW" altLang="en-US" sz="1400" b="1" dirty="0"/>
              <a:t>特別重要</a:t>
            </a:r>
            <a:endParaRPr lang="zh-TW" altLang="en-US" sz="2000" dirty="0"/>
          </a:p>
          <a:p>
            <a:r>
              <a:rPr lang="zh-TW" altLang="en-US" sz="2400" dirty="0"/>
              <a:t>寫起來 </a:t>
            </a:r>
            <a:r>
              <a:rPr lang="en-US" altLang="zh-TW" sz="2400" dirty="0"/>
              <a:t>Keyin </a:t>
            </a:r>
            <a:r>
              <a:rPr lang="zh-TW" altLang="en-US" sz="2400" dirty="0"/>
              <a:t>才看得懂</a:t>
            </a:r>
          </a:p>
          <a:p>
            <a:r>
              <a:rPr lang="en-US" altLang="zh-TW" sz="2400" dirty="0"/>
              <a:t>1 </a:t>
            </a:r>
            <a:r>
              <a:rPr lang="zh-TW" altLang="en-US" sz="2400" dirty="0"/>
              <a:t>入訂單系統 </a:t>
            </a:r>
            <a:r>
              <a:rPr lang="en-US" altLang="zh-TW" sz="2400" dirty="0"/>
              <a:t>2 </a:t>
            </a:r>
            <a:r>
              <a:rPr lang="zh-TW" altLang="en-US" sz="2400" dirty="0"/>
              <a:t>累積到數筆 再一起生成裝櫃單號碼</a:t>
            </a:r>
          </a:p>
          <a:p>
            <a:r>
              <a:rPr lang="zh-TW" altLang="en-US" sz="2400" dirty="0"/>
              <a:t>先排序一下，避免跳來跳去</a:t>
            </a:r>
          </a:p>
          <a:p>
            <a:r>
              <a:rPr lang="zh-TW" altLang="en-US" sz="2400" dirty="0"/>
              <a:t>列印出來核對訂單資訊，再次確認各項資訊</a:t>
            </a:r>
          </a:p>
          <a:p>
            <a:r>
              <a:rPr lang="zh-TW" altLang="en-US" sz="2400" dirty="0"/>
              <a:t>陳昱銘先生和阮秀麗小姐收單（彩霞姐），查看資料📄 </a:t>
            </a:r>
            <a:br>
              <a:rPr lang="en-US" altLang="zh-TW" sz="2400" dirty="0"/>
            </a:br>
            <a:r>
              <a:rPr lang="zh-TW" altLang="en-US" sz="2400" dirty="0"/>
              <a:t>記得每次修改都要丟單 </a:t>
            </a:r>
            <a:r>
              <a:rPr lang="en-US" altLang="zh-TW" sz="1600" dirty="0"/>
              <a:t>(1</a:t>
            </a:r>
            <a:r>
              <a:rPr lang="zh-TW" altLang="en-US" sz="1600" dirty="0"/>
              <a:t>份自己留存 </a:t>
            </a:r>
            <a:r>
              <a:rPr lang="en-US" altLang="zh-TW" sz="1600" dirty="0"/>
              <a:t>1</a:t>
            </a:r>
            <a:r>
              <a:rPr lang="zh-TW" altLang="en-US" sz="1600" dirty="0"/>
              <a:t>份給竹南 </a:t>
            </a:r>
            <a:r>
              <a:rPr lang="en-US" altLang="zh-TW" sz="1600" dirty="0"/>
              <a:t>2</a:t>
            </a:r>
            <a:r>
              <a:rPr lang="zh-TW" altLang="en-US" sz="1600" dirty="0"/>
              <a:t>張給成倉，再打電話問是否有收到單</a:t>
            </a:r>
            <a:r>
              <a:rPr lang="en-US" altLang="zh-TW" sz="1600" dirty="0"/>
              <a:t>)</a:t>
            </a:r>
            <a:endParaRPr lang="zh-TW" altLang="en-US" sz="2400" dirty="0"/>
          </a:p>
          <a:p>
            <a:endParaRPr lang="zh-TW" altLang="en-US" sz="3200" dirty="0"/>
          </a:p>
          <a:p>
            <a:pPr lvl="0">
              <a:spcBef>
                <a:spcPts val="0"/>
              </a:spcBef>
              <a:spcAft>
                <a:spcPts val="0"/>
              </a:spcAft>
            </a:pP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503513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F2DA51CF-8AD9-9FEC-D69C-D1C5E031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2ECAAE93-3205-31DC-1DF4-CA460C7F0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BB299604-DAFD-D4F1-F4EA-792FCBD97D70}"/>
              </a:ext>
            </a:extLst>
          </p:cNvPr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A9A8E6-4B9B-4F91-3FEF-8CEF65BB5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400" y="1013600"/>
            <a:ext cx="6150600" cy="48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5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5B520190-86DE-01A5-C81A-24D39AF7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4215ADA3-E1D0-8425-66FB-632E4E518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3" y="0"/>
            <a:ext cx="2700935" cy="3757694"/>
          </a:xfrm>
          <a:prstGeom prst="rect">
            <a:avLst/>
          </a:prstGeom>
        </p:spPr>
      </p:pic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1E5B14AA-6162-8CB6-CB4C-F4FB01D5C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4250E9B3-375E-84A7-0C1F-A8443FCB6877}"/>
              </a:ext>
            </a:extLst>
          </p:cNvPr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1F7003-C138-2BC8-E757-493146674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878" y="0"/>
            <a:ext cx="2756122" cy="224410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CF6ABC6-77E3-3431-ABE8-B53C7C204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878" y="2223330"/>
            <a:ext cx="2756122" cy="224410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6C7ACC72-16A8-FDC6-9671-A37641575FBD}"/>
              </a:ext>
            </a:extLst>
          </p:cNvPr>
          <p:cNvSpPr txBox="1"/>
          <p:nvPr/>
        </p:nvSpPr>
        <p:spPr>
          <a:xfrm>
            <a:off x="344488" y="5661248"/>
            <a:ext cx="741260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依照目前紙機運行的狀態，確認排程上的狀況和庫存的物料是否足夠</a:t>
            </a:r>
          </a:p>
        </p:txBody>
      </p:sp>
    </p:spTree>
    <p:extLst>
      <p:ext uri="{BB962C8B-B14F-4D97-AF65-F5344CB8AC3E}">
        <p14:creationId xmlns:p14="http://schemas.microsoft.com/office/powerpoint/2010/main" val="381004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9483098C-AE48-7561-46B5-C26907B5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1D48F2FF-A4E1-6ADC-57F9-9CFAC83F3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88BDE587-D0F5-1044-023C-1D3DEE284C22}"/>
              </a:ext>
            </a:extLst>
          </p:cNvPr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3907E98-E34B-5143-9C75-DC1846591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240" y="18782"/>
            <a:ext cx="5144661" cy="6858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CBC9CC8-28E8-7CA8-8175-83AACA8F374B}"/>
              </a:ext>
            </a:extLst>
          </p:cNvPr>
          <p:cNvSpPr txBox="1"/>
          <p:nvPr/>
        </p:nvSpPr>
        <p:spPr>
          <a:xfrm>
            <a:off x="495223" y="4539430"/>
            <a:ext cx="286488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抄寫外銷訂貨單上的資訊</a:t>
            </a:r>
            <a:br>
              <a:rPr lang="en-US" altLang="zh-TW" dirty="0"/>
            </a:br>
            <a:r>
              <a:rPr lang="zh-TW" altLang="en-US" dirty="0"/>
              <a:t>有固定格式</a:t>
            </a:r>
          </a:p>
        </p:txBody>
      </p:sp>
    </p:spTree>
    <p:extLst>
      <p:ext uri="{BB962C8B-B14F-4D97-AF65-F5344CB8AC3E}">
        <p14:creationId xmlns:p14="http://schemas.microsoft.com/office/powerpoint/2010/main" val="2595138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593DD3A-115C-3E7B-0FE9-9C392088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DE3914E2-D11C-54E5-0445-CFFEA26CC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7CE742F4-570B-4B1E-6728-A180D6E8A650}"/>
              </a:ext>
            </a:extLst>
          </p:cNvPr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67C49C-2ACF-2A61-1990-25059B94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400" y="340875"/>
            <a:ext cx="5400600" cy="596359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1B9CFE9C-7550-9A44-A3A1-24CA2CBE2B85}"/>
              </a:ext>
            </a:extLst>
          </p:cNvPr>
          <p:cNvSpPr txBox="1"/>
          <p:nvPr/>
        </p:nvSpPr>
        <p:spPr>
          <a:xfrm>
            <a:off x="288849" y="5660250"/>
            <a:ext cx="408316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繳庫本的用意是追蹤目前包裝的進度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0321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5C86E52E-F0DF-54D6-5FE9-DD4DCF1D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6FE7D4B7-833F-C367-BA38-A82888824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223" y="340875"/>
            <a:ext cx="61506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36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91A40263-2CAB-51C8-7966-04BC8972598D}"/>
              </a:ext>
            </a:extLst>
          </p:cNvPr>
          <p:cNvSpPr txBox="1"/>
          <p:nvPr/>
        </p:nvSpPr>
        <p:spPr>
          <a:xfrm>
            <a:off x="344488" y="1461695"/>
            <a:ext cx="3600400" cy="3077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計算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入系統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訂物料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</a:t>
            </a:r>
            <a:r>
              <a:rPr lang="zh-TW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寫生管本</a:t>
            </a:r>
            <a:r>
              <a:rPr lang="en-US" altLang="zh-TW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收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sz="2800" b="1" dirty="0">
              <a:solidFill>
                <a:srgbClr val="8888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S PGothic"/>
              <a:ea typeface="MS PGothic"/>
              <a:cs typeface="MS PGothic"/>
              <a:sym typeface="MS PGothic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5C6B25F-F0D2-DCBF-F523-C526F45A6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105" y="1441262"/>
            <a:ext cx="5630895" cy="494576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7E87B55-3C50-1AF6-50FC-0909D8408FA3}"/>
              </a:ext>
            </a:extLst>
          </p:cNvPr>
          <p:cNvSpPr txBox="1"/>
          <p:nvPr/>
        </p:nvSpPr>
        <p:spPr>
          <a:xfrm>
            <a:off x="506674" y="5301263"/>
            <a:ext cx="432682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追蹤貨櫃出貨的狀況</a:t>
            </a:r>
            <a:endParaRPr lang="en-US" altLang="zh-TW" dirty="0"/>
          </a:p>
          <a:p>
            <a:r>
              <a:rPr lang="zh-TW" altLang="en-US" dirty="0"/>
              <a:t>若已出貨就可以外銷訂貨單收起來備查</a:t>
            </a:r>
          </a:p>
        </p:txBody>
      </p:sp>
    </p:spTree>
    <p:extLst>
      <p:ext uri="{BB962C8B-B14F-4D97-AF65-F5344CB8AC3E}">
        <p14:creationId xmlns:p14="http://schemas.microsoft.com/office/powerpoint/2010/main" val="45195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F115BC17-BBFF-48A6-8F92-0614FF97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A2025783-3CC3-ED50-A971-A759F74068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7239000" cy="124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zh-TW" altLang="en-US" sz="4400" b="1" dirty="0">
                <a:solidFill>
                  <a:srgbClr val="0850D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外銷訂單處理流程</a:t>
            </a:r>
            <a:br>
              <a:rPr lang="en-TW" altLang="zh-TW" sz="2800" dirty="0">
                <a:solidFill>
                  <a:srgbClr val="0850D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sz="3600" b="1" dirty="0">
              <a:solidFill>
                <a:srgbClr val="0850D0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148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{3E7D5F43-4FE9-D14D-90CB-AB782804C6C4}tf16401369</Template>
  <TotalTime>31158</TotalTime>
  <Words>413</Words>
  <Application>Microsoft Office PowerPoint</Application>
  <PresentationFormat>A4 紙張 (210x297 公釐)</PresentationFormat>
  <Paragraphs>50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Microsoft JhengHei UI</vt:lpstr>
      <vt:lpstr>MS PGothic</vt:lpstr>
      <vt:lpstr>微軟正黑體</vt:lpstr>
      <vt:lpstr>Arial</vt:lpstr>
      <vt:lpstr>Calibri</vt:lpstr>
      <vt:lpstr>Office Theme</vt:lpstr>
      <vt:lpstr>PowerPoint 簡報</vt:lpstr>
      <vt:lpstr>外銷訂單處理流程 </vt:lpstr>
      <vt:lpstr>外銷訂單處理流程 </vt:lpstr>
      <vt:lpstr>外銷訂單處理流程 </vt:lpstr>
      <vt:lpstr>外銷訂單處理流程 </vt:lpstr>
      <vt:lpstr>外銷訂單處理流程 </vt:lpstr>
      <vt:lpstr>外銷訂單處理流程 </vt:lpstr>
      <vt:lpstr>外銷訂單處理流程 </vt:lpstr>
      <vt:lpstr>外銷訂單處理流程 </vt:lpstr>
      <vt:lpstr>外銷訂單處理流程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淑娟 廣源</cp:lastModifiedBy>
  <cp:revision>244</cp:revision>
  <cp:lastPrinted>2025-09-08T05:54:59Z</cp:lastPrinted>
  <dcterms:created xsi:type="dcterms:W3CDTF">2015-11-27T02:02:07Z</dcterms:created>
  <dcterms:modified xsi:type="dcterms:W3CDTF">2026-03-26T05:16:27Z</dcterms:modified>
</cp:coreProperties>
</file>